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CampusStock  |  DevOps Final Capstone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14400"/>
            <a:ext cx="4206240" cy="4206240"/>
          </a:xfrm>
          <a:prstGeom prst="rect">
            <a:avLst/>
          </a:prstGeom>
          <a:solidFill>
            <a:srgbClr val="0A1628"/>
          </a:solidFill>
          <a:ln w="15875">
            <a:solidFill>
              <a:srgbClr val="253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645920"/>
            <a:ext cx="2743200" cy="2743200"/>
          </a:xfrm>
          <a:prstGeom prst="rect">
            <a:avLst/>
          </a:prstGeom>
          <a:solidFill>
            <a:srgbClr val="0A1628"/>
          </a:solidFill>
          <a:ln w="15875">
            <a:solidFill>
              <a:srgbClr val="1F4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377440"/>
            <a:ext cx="1280160" cy="1280160"/>
          </a:xfrm>
          <a:prstGeom prst="rect">
            <a:avLst/>
          </a:prstGeom>
          <a:solidFill>
            <a:srgbClr val="0A162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</a:rPr>
              <a:t>DEVOPS FINAL CAPSTONE PROJECT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</a:rPr>
              <a:t>CampusStock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Campus Inventory &amp; Asset Management System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FastAPI  •  React  •  PostgreSQL  •  Docker  •  GitHub Actions  •  AWS  •  Kubernetes  •  Prometheus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What CampusStock is, and why it was built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Campus inventory and assets need one place to manage items, stock, and transactions.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38328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4D399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6517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A web application backed by REST APIs and PostgreSQL for inventory operations.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38328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B5CF6"/>
                </a:solidFill>
              </a:rPr>
              <a:t>THE DEVOPS GOAL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6517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Automate testing, containers, security scanning, cloud infrastructure, deployment, and observability.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Application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Inventory operations in a single web interface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949440" cy="448056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6400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CampusStock running in the browser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046720" y="178308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Inventory management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046720" y="2514600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Create, edit, delete (CRUD)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046720" y="324612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Category management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046720" y="3977640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Issue and return transactions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46720" y="470916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Low-stock tracking and stats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46720" y="5440680"/>
            <a:ext cx="164592" cy="1645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5349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Backend API integration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Four layers from user request to monitored workload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37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709928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709928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42816" y="21031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26280" y="1709928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09928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 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Vite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25896" y="21031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709928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709928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Nginx / Ingress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08976" y="21031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1709928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1709928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FastAPI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REST API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92056" y="210312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75520" y="1709928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75520" y="1709928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Alembic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2770632"/>
            <a:ext cx="10881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37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2770632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880360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2880360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Source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2816" y="3273552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26280" y="2880360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2880360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 Actions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25896" y="3273552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9360" y="2880360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880360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GHCR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Images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08976" y="3273552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2880360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92440" y="2880360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Helm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Chart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92056" y="3273552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5520" y="2880360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5520" y="2880360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ArgoCD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GitOps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41064"/>
            <a:ext cx="10881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375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394106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B5CF6"/>
                </a:solidFill>
              </a:rPr>
              <a:t>INFRASTRUCTURE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43200" y="4050792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743200" y="4050792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Terraform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IaC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242816" y="4443984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526280" y="4050792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26280" y="4050792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 VPC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25896" y="4443984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09360" y="4050792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09360" y="4050792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EKS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Kubernetes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" y="5111496"/>
            <a:ext cx="10881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2537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5111496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743200" y="5221224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743200" y="5221224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Prometheus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Scrape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242816" y="5614416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526280" y="5221224"/>
            <a:ext cx="1463040" cy="786384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26280" y="5221224"/>
            <a:ext cx="1463040" cy="7863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Grafana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Dashboards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Backend &amp; Database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FastAPI REST API on PostgreSQL, schema managed by Alembic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194560" cy="86868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React / Swagger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71216" y="2080260"/>
            <a:ext cx="5212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1645920"/>
            <a:ext cx="2194560" cy="86868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0136" y="2080260"/>
            <a:ext cx="5212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2194560" cy="86868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SQLAlchemy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ORM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49056" y="2080260"/>
            <a:ext cx="5212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1645920"/>
            <a:ext cx="2194560" cy="86868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0684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Inventory data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GET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40080" y="3639312"/>
            <a:ext cx="1371600" cy="457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639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POST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639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13716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261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PUT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42611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/api/items/{id}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4882896"/>
            <a:ext cx="1371600" cy="4572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882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DELETE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48828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/api/items/{id}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640080" y="5504688"/>
            <a:ext cx="13716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5504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GET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194560" y="5504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4D399"/>
                </a:solidFill>
              </a:rPr>
              <a:t>ALEMBIC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4747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Versioned migrations create and evolve the database schema. Migration state is verified at head.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50292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/health reports liveness. /docs serves Swagger.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Testing &amp; Code Quality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The first quality gate in the pipeline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2D3EE"/>
                </a:solidFill>
              </a:rPr>
              <a:t>23</a:t>
            </a:r>
            <a:endParaRPr lang="en-US" sz="1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TESTS PASSED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52160" y="1737360"/>
            <a:ext cx="5669280" cy="0"/>
          </a:xfrm>
          <a:prstGeom prst="line">
            <a:avLst/>
          </a:prstGeom>
          <a:noFill/>
          <a:ln w="12700">
            <a:solidFill>
              <a:srgbClr val="2537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874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</a:rPr>
              <a:t>pytest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2286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Automated API tests across multiple endpoints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852160" y="3108960"/>
            <a:ext cx="5669280" cy="0"/>
          </a:xfrm>
          <a:prstGeom prst="line">
            <a:avLst/>
          </a:prstGeom>
          <a:noFill/>
          <a:ln w="12700">
            <a:solidFill>
              <a:srgbClr val="2537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</a:rPr>
              <a:t>Isolated test database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657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In-memory SQLite via dependency override; production PostgreSQL is never used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52160" y="4480560"/>
            <a:ext cx="5669280" cy="0"/>
          </a:xfrm>
          <a:prstGeom prst="line">
            <a:avLst/>
          </a:prstGeom>
          <a:noFill/>
          <a:ln w="12700">
            <a:solidFill>
              <a:srgbClr val="2537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46177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Why it matters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5029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 failing test stops the pipeline, so no broken image is promoted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371600" cy="731520"/>
          </a:xfrm>
          <a:prstGeom prst="rect">
            <a:avLst/>
          </a:prstGeom>
          <a:solidFill>
            <a:srgbClr val="111F38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120640"/>
            <a:ext cx="1371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Bad code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48256" y="548640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31720" y="5120640"/>
            <a:ext cx="1371600" cy="731520"/>
          </a:xfrm>
          <a:prstGeom prst="rect">
            <a:avLst/>
          </a:prstGeom>
          <a:solidFill>
            <a:srgbClr val="111F38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31720" y="5120640"/>
            <a:ext cx="1371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pytest fails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39896" y="5486400"/>
            <a:ext cx="2468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5120640"/>
            <a:ext cx="1371600" cy="731520"/>
          </a:xfrm>
          <a:prstGeom prst="rect">
            <a:avLst/>
          </a:prstGeom>
          <a:solidFill>
            <a:srgbClr val="111F38"/>
          </a:solidFill>
          <a:ln w="15875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5120640"/>
            <a:ext cx="137160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Pipeline stops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Docker &amp; Containerization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One command starts the full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DOCKER COMPOSE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2926080" cy="173736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Node build, Nginx runtime  :3000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2926080" cy="17373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FastAPI + Uvicorn  :8000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148840"/>
            <a:ext cx="2926080" cy="173736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148840"/>
            <a:ext cx="292608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Database  :5432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68496" y="3017520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26096" y="3017520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</a:rPr>
              <a:t>Multi-stage frontend build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Build tooling stays out of runtime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Non-root backend image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Least-privilege runtime user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docker compose up --build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5532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Frontend, backend, PostgreSQL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CI/CD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Triggered on every push to the main branch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 push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85416" y="240030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460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Pytest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23 tests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59936" y="240030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build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34456" y="240030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Docker build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Both images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08976" y="240030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Trivy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HIGH / CRITICAL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83496" y="2400300"/>
            <a:ext cx="29260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1828800"/>
            <a:ext cx="1508760" cy="11430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1828800"/>
            <a:ext cx="1508760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GHCR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SHA tag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3474720" cy="0"/>
          </a:xfrm>
          <a:prstGeom prst="line">
            <a:avLst/>
          </a:prstGeom>
          <a:noFill/>
          <a:ln w="25400">
            <a:solidFill>
              <a:srgbClr val="2537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4A3B8"/>
                </a:solidFill>
              </a:rPr>
              <a:t>TEST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3291840"/>
            <a:ext cx="5029200" cy="0"/>
          </a:xfrm>
          <a:prstGeom prst="line">
            <a:avLst/>
          </a:prstGeom>
          <a:noFill/>
          <a:ln w="25400">
            <a:solidFill>
              <a:srgbClr val="2537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056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4A3B8"/>
                </a:solidFill>
              </a:rPr>
              <a:t>BUILD, SCAN, PUSH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Image tag = Git commit SHA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Every deployed image traces back to the exact commit that built it.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Quality gates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983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Failing tests or HIGH/CRITICAL findings stop the pipeline before an image is pushed.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Security with Trivy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Container image scanning inside the pipeline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34D399"/>
                </a:solidFill>
              </a:rPr>
              <a:t>0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HIGH / CRITICAL</a:t>
            </a:r>
            <a:endParaRPr lang="en-US" sz="2000" dirty="0"/>
          </a:p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VULNERABILITIES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0" y="1737360"/>
            <a:ext cx="2377440" cy="82296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image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0" y="3017520"/>
            <a:ext cx="2377440" cy="82296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3017520"/>
            <a:ext cx="237744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image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09560" y="21488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09560" y="342900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2286000"/>
            <a:ext cx="2926080" cy="12801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2286000"/>
            <a:ext cx="29260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Trivy scan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Security gate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42976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The gate fails the pipeline when HIGH or CRITICAL vulnerabilities are found, so such images are not pushed to the registry.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5303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scanner is one automated control, not a guarantee of security.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AWS &amp; Terraform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Infrastructure defined as 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2377440" cy="118872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926080"/>
            <a:ext cx="237744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Terraform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init / plan / apply / destroy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54096" y="352044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600200"/>
            <a:ext cx="7772400" cy="4526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6916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AWS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057400"/>
            <a:ext cx="722376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</a:rPr>
              <a:t>VPC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560320"/>
            <a:ext cx="31089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Public Subnet 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63840" y="2560320"/>
            <a:ext cx="31089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Public Subnet 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2160" y="352044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18320" y="352044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4023360"/>
            <a:ext cx="6675120" cy="155448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4023360"/>
            <a:ext cx="667512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EKS Cluster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Managed worker node group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Kubernetes &amp; Helm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The application runs in its own namespace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223760" cy="4526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</a:rPr>
              <a:t>NAMESPACE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6675120" cy="59436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66751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Ingress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3200400" cy="5943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ClusterIP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3017520"/>
            <a:ext cx="3200400" cy="5943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3017520"/>
            <a:ext cx="320040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ClusterIP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1508760" cy="7772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06040" y="4023360"/>
            <a:ext cx="1508760" cy="7772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0604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9120" y="4023360"/>
            <a:ext cx="1508760" cy="7772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0760" y="4023360"/>
            <a:ext cx="1508760" cy="7772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4023360"/>
            <a:ext cx="15087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Frontend Deployment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Backend Deployment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5349240"/>
            <a:ext cx="6675120" cy="54864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349240"/>
            <a:ext cx="66751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0" y="1600200"/>
            <a:ext cx="3291840" cy="214884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8503920" y="160020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kubectl get pods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0" y="3931920"/>
            <a:ext cx="3291840" cy="219456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503920" y="39319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helm list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Ingress &amp; Application Access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How external traffic reaches CampusStock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10312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834640"/>
            <a:ext cx="21031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Internet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79776" y="33375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2834640"/>
            <a:ext cx="256032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834640"/>
            <a:ext cx="256032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AWS Load Balancer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88736" y="333756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2834640"/>
            <a:ext cx="219456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NGINX Ingress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95360" y="333756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0" y="2103120"/>
            <a:ext cx="0" cy="2468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210312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61120" y="457200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64040" y="1691640"/>
            <a:ext cx="2057400" cy="8229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64040" y="1691640"/>
            <a:ext cx="2057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route /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464040" y="4160520"/>
            <a:ext cx="2057400" cy="82296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64040" y="4160520"/>
            <a:ext cx="20574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route /api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Frontend and backend Services are exposed through Ingress path routing.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GitOps with ArgoCD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Git is the source of truth for the cluster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8308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783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59736" y="219456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691640"/>
            <a:ext cx="178308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691640"/>
            <a:ext cx="1783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Helm Chart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Desired state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00016" y="219456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1691640"/>
            <a:ext cx="178308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1691640"/>
            <a:ext cx="1783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ArgoCD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Reconciles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0296" y="219456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1691640"/>
            <a:ext cx="178308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691640"/>
            <a:ext cx="1783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EKS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Cluster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80576" y="2194560"/>
            <a:ext cx="38404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1691640"/>
            <a:ext cx="1783080" cy="100584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1691640"/>
            <a:ext cx="178308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CampusStock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Running app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089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ArgoCD continuously compares the cluster with the Git repository and syncs any drift.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Automated sync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Self-heal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60720" y="3063240"/>
            <a:ext cx="5760720" cy="306324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035040" y="3063240"/>
            <a:ext cx="5212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ArgoCD application view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Observability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From application metrics to live dashboards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1945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CampusStock API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Backend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71216" y="2103120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566160" y="1645920"/>
            <a:ext cx="21945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/metrics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Prometheus format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7296" y="2103120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92240" y="1645920"/>
            <a:ext cx="21945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Prometheus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ServiceMonitor, 15s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23376" y="2103120"/>
            <a:ext cx="6583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18320" y="1645920"/>
            <a:ext cx="2194560" cy="914400"/>
          </a:xfrm>
          <a:prstGeom prst="rect">
            <a:avLst/>
          </a:prstGeom>
          <a:solidFill>
            <a:srgbClr val="111F38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0" y="1645920"/>
            <a:ext cx="2194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Grafana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Live request rate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303520" cy="292608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1440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Prometheus targets: CampusStock API 2/2 UP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3200400"/>
            <a:ext cx="5303520" cy="2926080"/>
          </a:xfrm>
          <a:prstGeom prst="rect">
            <a:avLst/>
          </a:prstGeom>
          <a:solidFill>
            <a:srgbClr val="111F38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6492240" y="3200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EVIDENCE SCREENSHOT</a:t>
            </a:r>
            <a:endParaRPr lang="en-US" sz="1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Grafana panel: live HTTP request rate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Complete DevOps Lifecycle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From code to an observed production workload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21208" y="2286000"/>
            <a:ext cx="128016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2120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CODE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1051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6128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GitHub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38528" y="2286000"/>
            <a:ext cx="128016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3852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TEST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2783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7860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3852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pytest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55848" y="2286000"/>
            <a:ext cx="128016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5584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BUILD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4515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9592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584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Docker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73168" y="2286000"/>
            <a:ext cx="128016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7316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SCAN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6247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1324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Trivy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0488" y="2286000"/>
            <a:ext cx="128016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9048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PUSH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7979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3056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048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GHCR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07808" y="2286000"/>
            <a:ext cx="128016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0780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PROVISION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89711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24788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0780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Terraform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25128" y="2286000"/>
            <a:ext cx="128016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02512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DEPLOY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314432" y="269748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6520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2512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Kubernetes, Helm, ArgoCD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0442448" y="2286000"/>
            <a:ext cx="128016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442448" y="22860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OBSERVE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082528" y="3108960"/>
            <a:ext cx="0" cy="457200"/>
          </a:xfrm>
          <a:prstGeom prst="line">
            <a:avLst/>
          </a:prstGeom>
          <a:noFill/>
          <a:ln w="19050">
            <a:solidFill>
              <a:srgbClr val="25375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442448" y="3657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Prometheus, Grafana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Every stage is automated and traceable to a Git commit.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914400"/>
            <a:ext cx="4206240" cy="4206240"/>
          </a:xfrm>
          <a:prstGeom prst="rect">
            <a:avLst/>
          </a:prstGeom>
          <a:solidFill>
            <a:srgbClr val="0A1628"/>
          </a:solidFill>
          <a:ln w="15875">
            <a:solidFill>
              <a:srgbClr val="2537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1645920"/>
            <a:ext cx="2743200" cy="2743200"/>
          </a:xfrm>
          <a:prstGeom prst="rect">
            <a:avLst/>
          </a:prstGeom>
          <a:solidFill>
            <a:srgbClr val="0A1628"/>
          </a:solidFill>
          <a:ln w="15875">
            <a:solidFill>
              <a:srgbClr val="1F4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2377440"/>
            <a:ext cx="1280160" cy="1280160"/>
          </a:xfrm>
          <a:prstGeom prst="rect">
            <a:avLst/>
          </a:prstGeom>
          <a:solidFill>
            <a:srgbClr val="0A1628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2D3EE"/>
                </a:solidFill>
              </a:rPr>
              <a:t>CAMPUSSTOCK  |  DEVOPS FINAL CAPSTONE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</a:rPr>
              <a:t>Thank You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From Code → Cloud → Kubernetes → Observability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Questions are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Stock Final">
  <a:themeElements>
    <a:clrScheme name="CampusStock Final">
      <a:dk1>
        <a:srgbClr val="0A1628"/>
      </a:dk1>
      <a:lt1>
        <a:srgbClr val="FFFFFF"/>
      </a:lt1>
      <a:dk2>
        <a:srgbClr val="111F38"/>
      </a:dk2>
      <a:lt2>
        <a:srgbClr val="94A3B8"/>
      </a:lt2>
      <a:accent1>
        <a:srgbClr val="22D3EE"/>
      </a:accent1>
      <a:accent2>
        <a:srgbClr val="34D399"/>
      </a:accent2>
      <a:accent3>
        <a:srgbClr val="8B5CF6"/>
      </a:accent3>
      <a:accent4>
        <a:srgbClr val="F87171"/>
      </a:accent4>
      <a:accent5>
        <a:srgbClr val="25375A"/>
      </a:accent5>
      <a:accent6>
        <a:srgbClr val="FBBF24"/>
      </a:accent6>
      <a:hlink>
        <a:srgbClr val="22D3EE"/>
      </a:hlink>
      <a:folHlink>
        <a:srgbClr val="8B5CF6"/>
      </a:folHlink>
    </a:clrScheme>
    <a:fontScheme name="CampusStock Fin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CampusStock Final Presentation</dc:title>
  <dc:subject>PptxGenJS Presentation</dc:subject>
  <dc:creator>PptxGenJS</dc:creator>
  <cp:lastModifiedBy>PptxGenJS</cp:lastModifiedBy>
  <cp:revision>1</cp:revision>
  <dcterms:created xsi:type="dcterms:W3CDTF">2026-10-17T00:03:38Z</dcterms:created>
  <dcterms:modified xsi:type="dcterms:W3CDTF">2026-10-17T00:03:38Z</dcterms:modified>
</cp:coreProperties>
</file>